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0241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0"/>
            <a:ext cx="54864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74320" y="1828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kern="0" spc="4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PROJECT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24231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&amp;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Tree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520440" y="105156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Hiring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with CART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520440" y="251460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supervised machine learning project using Decision Tree classification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automate candidate screening from a 1,500-record HR dataset.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 ·  Python  ·  GridSearchCV  ·  CCP Pruning  ·  ROC-AUC Evaluation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Dataset 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832104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60120"/>
            <a:ext cx="41148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960120"/>
            <a:ext cx="4114800" cy="38404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8755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435608"/>
            <a:ext cx="388620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managers screen hundreds of resumes weekly — manually and slowly.
</a:t>
            </a: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CART model that learns from 1,500 past hiring decisions and predicts whether a new candidate will be hired — automatically and consistently.
</a:t>
            </a: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training a junior recruiter on 1,500 examples, then letting them screen new applicants independently.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0690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005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recruitment_data.csv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1389888"/>
            <a:ext cx="1188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0" y="1389888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 candidates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1618488"/>
            <a:ext cx="1188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0" y="1618488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input columns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1847088"/>
            <a:ext cx="1188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0" y="1847088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HiringDecision (0/1)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2075688"/>
            <a:ext cx="1188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0" y="2075688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clean dataset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514600"/>
            <a:ext cx="40690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54880" y="2560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2944368"/>
            <a:ext cx="265176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2999232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Hired — 69%  (1,035)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3364992"/>
            <a:ext cx="1170432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3168" y="3419856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Hired — 31%  (465)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54880" y="382219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Imbalanced data → ROC-AUC is the primary metric, not accuracy.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(EDA)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832104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60120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96696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30552" y="960120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30552" y="996696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9624" y="960120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9624" y="996696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EducationLevel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68696" y="960120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68696" y="996696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ExperienceYears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287768" y="960120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87768" y="996696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PreviousCompanies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1362456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1399032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DistanceFromCompany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130552" y="1362456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30552" y="1399032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InterviewScore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9624" y="1362456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9624" y="1399032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SkillScore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68696" y="1362456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68696" y="1399032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PersonalityScore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287768" y="1362456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87768" y="1399032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RecruitmentStrategy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1874520"/>
            <a:ext cx="2743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48640" y="19659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Score Distributions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2368296"/>
            <a:ext cx="246888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InterviewScore, SkillScore, and PersonalityScore are each spread 0–100 uniformly. Hired candidates cluster toward higher scores on all three.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19272" y="1874520"/>
            <a:ext cx="2743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456432" y="19659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Correlation Heatmap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456432" y="2368296"/>
            <a:ext cx="246888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InterviewScore and SkillScore are relatively independent of each other — both carry unique predictive signal. No severe multicollinearity detected.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27064" y="1874520"/>
            <a:ext cx="2743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364224" y="19659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Boxplot Insight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64224" y="2368296"/>
            <a:ext cx="246888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Hired candidates visibly outperform in InterviewScore and SkillScore, confirming these features will be informative splits for the tree.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&amp; Baseline CART Model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832104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60120"/>
            <a:ext cx="4023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960120"/>
            <a:ext cx="402336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8755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0352" y="1453896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4538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143560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/ Target Split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17830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10 features, y = HiringDecision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0352" y="2450592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450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43230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2779776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all features to mean=0, std=1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(CART doesn't need it, but pipeline best practice)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0352" y="3447288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447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342900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77647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(1,200 rows) / 20% test (300 rows)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 → same 31% hire rate in both sets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17720" y="960120"/>
            <a:ext cx="41148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17720" y="960120"/>
            <a:ext cx="4114800" cy="3657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98755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CART Results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09160" y="1417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DecisionTreeClassifier(criterion='gini', random_state=42)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1810512"/>
            <a:ext cx="1920240" cy="47548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1828800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09160" y="202996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89.33%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09160" y="2377440"/>
            <a:ext cx="1920240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2395728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09160" y="259689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87.24%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709160" y="2944368"/>
            <a:ext cx="192024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2962656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Depth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09160" y="316382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levels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709160" y="3511296"/>
            <a:ext cx="1920240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3529584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Nodes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709160" y="373075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709160" y="41148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Very deep tree (13 levels, 109 leaves) signals overfitting — memorizing training examples rather than learning generalizable patterns.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&amp; Tree Structure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832104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RecruitmentStrategy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14600" y="1014984"/>
            <a:ext cx="1355141" cy="2743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42893" y="101498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37.0%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399032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ExperienceYears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14600" y="1408176"/>
            <a:ext cx="508406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96158" y="140817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13.9%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1792224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SkillScore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14600" y="1801368"/>
            <a:ext cx="491581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79333" y="1801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13.4%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2185416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InterviewScore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514600" y="2194560"/>
            <a:ext cx="467076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54828" y="21945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12.8%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2578608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PersonalityScore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514600" y="2587752"/>
            <a:ext cx="399044" cy="2743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86796" y="25877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10.9%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297180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EducationLevel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514600" y="2980944"/>
            <a:ext cx="337231" cy="2743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4983" y="298094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3364992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514600" y="3374136"/>
            <a:ext cx="46452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34204" y="337413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" y="3758184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DistanceFromCompany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514600" y="3767328"/>
            <a:ext cx="45354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33106" y="376732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11480" y="4151376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PreviousCompanies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514600" y="4160520"/>
            <a:ext cx="36576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24328" y="41605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0.2%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11480" y="4544568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514600" y="4553712"/>
            <a:ext cx="36576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24328" y="455371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92240" y="960120"/>
            <a:ext cx="2377440" cy="4023360"/>
          </a:xfrm>
          <a:prstGeom prst="rect">
            <a:avLst/>
          </a:prstGeom>
          <a:solidFill>
            <a:srgbClr val="1E293B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583680" y="10241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Root Split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583680" y="138988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RecruitmentStrategy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−0.57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223760" y="2057400"/>
            <a:ext cx="22860" cy="3657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83680" y="24231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↙ Strategy 1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(Aggressive)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680960" y="24231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↘ Strategy 2/3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(Mod/Conserv.)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583680" y="30175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level checks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SkillScore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PersonalityScore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583680" y="3703320"/>
            <a:ext cx="2194560" cy="228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83680" y="3749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contributes 0%</a:t>
            </a:r>
            <a:endParaRPr lang="en-US" sz="95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&amp; PrevComp &lt;2%</a:t>
            </a:r>
            <a:endParaRPr lang="en-US" sz="95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safe to de-prioritize in</a:t>
            </a:r>
            <a:endParaRPr lang="en-US" sz="95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— GridSearchCV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832104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60120"/>
            <a:ext cx="2011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960120"/>
            <a:ext cx="201168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875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max_depth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3533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 5, 7, 10, None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627632"/>
            <a:ext cx="1828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how many levels deep the tree grows. None = unlimited (often overfits).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87752" y="960120"/>
            <a:ext cx="2011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87752" y="960120"/>
            <a:ext cx="201168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79192" y="9875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min_samples_split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79192" y="13533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2, 5, 10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79192" y="1627632"/>
            <a:ext cx="1828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samples needed at a node before it can split further.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64024" y="960120"/>
            <a:ext cx="2011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64024" y="960120"/>
            <a:ext cx="201168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55464" y="9875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min_samples_leaf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55464" y="13533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1, 2, 4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55464" y="1627632"/>
            <a:ext cx="1828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samples required at each leaf (terminal) node.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940296" y="960120"/>
            <a:ext cx="2011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40296" y="960120"/>
            <a:ext cx="201168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31736" y="9875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criterion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31736" y="13533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gini, entropy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031736" y="1627632"/>
            <a:ext cx="1828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formula used to measure split quality.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11480" y="2779776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× 3 × 3 × 2 = 90 combinations  ×  5-fold CV  =  450 model fits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11480" y="3200400"/>
            <a:ext cx="4023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25526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Parameters Found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363016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criterion: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194560" y="363016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8640" y="389534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max_depth: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194560" y="389534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(unlimited — pruning handles this)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41605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min_samples_leaf: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194560" y="416052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8640" y="442569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min_samples_split: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194560" y="442569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617720" y="320040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754880" y="325526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Model Performance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754880" y="3657600"/>
            <a:ext cx="164592" cy="1828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83480" y="363016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949440" y="363016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91.67%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754880" y="3922776"/>
            <a:ext cx="164592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83480" y="389534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ROC-AUC: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949440" y="389534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91.16%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754880" y="4187952"/>
            <a:ext cx="164592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83480" y="41605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Best ROC-AUC: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949440" y="41605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90.93%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754880" y="4453128"/>
            <a:ext cx="164592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83480" y="442569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Depth / Leaves: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949440" y="442569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77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Analysis &amp; Cost Complexity Pruning (CCP)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832104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60120"/>
            <a:ext cx="41148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960120"/>
            <a:ext cx="4114800" cy="3657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8755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Analysis — Depth vs Accuracy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" y="1463040"/>
            <a:ext cx="0" cy="22860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3749040"/>
            <a:ext cx="3474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3463290"/>
            <a:ext cx="3474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" y="337185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94360" y="2891790"/>
            <a:ext cx="3474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0312" y="280035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94360" y="2320290"/>
            <a:ext cx="3474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0312" y="222885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94360" y="1748790"/>
            <a:ext cx="3474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0312" y="165735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4360" y="3348990"/>
            <a:ext cx="689688" cy="0"/>
          </a:xfrm>
          <a:prstGeom prst="line">
            <a:avLst/>
          </a:prstGeom>
          <a:noFill/>
          <a:ln w="12700">
            <a:solidFill>
              <a:srgbClr val="4F46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0440" y="2777490"/>
            <a:ext cx="598406" cy="0"/>
          </a:xfrm>
          <a:prstGeom prst="line">
            <a:avLst/>
          </a:prstGeom>
          <a:noFill/>
          <a:ln w="12700">
            <a:solidFill>
              <a:srgbClr val="4F46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66520" y="2320290"/>
            <a:ext cx="480324" cy="0"/>
          </a:xfrm>
          <a:prstGeom prst="line">
            <a:avLst/>
          </a:prstGeom>
          <a:noFill/>
          <a:ln w="12700">
            <a:solidFill>
              <a:srgbClr val="4F46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52600" y="2034540"/>
            <a:ext cx="390287" cy="0"/>
          </a:xfrm>
          <a:prstGeom prst="line">
            <a:avLst/>
          </a:prstGeom>
          <a:noFill/>
          <a:ln w="12700">
            <a:solidFill>
              <a:srgbClr val="4F46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38680" y="1977390"/>
            <a:ext cx="390287" cy="0"/>
          </a:xfrm>
          <a:prstGeom prst="line">
            <a:avLst/>
          </a:prstGeom>
          <a:noFill/>
          <a:ln w="12700">
            <a:solidFill>
              <a:srgbClr val="4F46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4760" y="1920240"/>
            <a:ext cx="386080" cy="0"/>
          </a:xfrm>
          <a:prstGeom prst="line">
            <a:avLst/>
          </a:prstGeom>
          <a:noFill/>
          <a:ln w="12700">
            <a:solidFill>
              <a:srgbClr val="4F46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10840" y="1920240"/>
            <a:ext cx="390287" cy="0"/>
          </a:xfrm>
          <a:prstGeom prst="line">
            <a:avLst/>
          </a:prstGeom>
          <a:noFill/>
          <a:ln w="12700">
            <a:solidFill>
              <a:srgbClr val="4F46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96920" y="1863090"/>
            <a:ext cx="386080" cy="0"/>
          </a:xfrm>
          <a:prstGeom prst="line">
            <a:avLst/>
          </a:prstGeom>
          <a:noFill/>
          <a:ln w="12700">
            <a:solidFill>
              <a:srgbClr val="4F46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83000" y="1863090"/>
            <a:ext cx="390287" cy="0"/>
          </a:xfrm>
          <a:prstGeom prst="line">
            <a:avLst/>
          </a:prstGeom>
          <a:noFill/>
          <a:ln w="12700">
            <a:solidFill>
              <a:srgbClr val="4F46E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" y="3463290"/>
            <a:ext cx="689688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80440" y="2891790"/>
            <a:ext cx="598406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66520" y="2434590"/>
            <a:ext cx="422437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752600" y="2263140"/>
            <a:ext cx="402644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38680" y="2148840"/>
            <a:ext cx="386080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24760" y="2148840"/>
            <a:ext cx="390287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10840" y="2205990"/>
            <a:ext cx="386080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96920" y="2205990"/>
            <a:ext cx="390287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83000" y="2263140"/>
            <a:ext cx="390287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24760" y="1463040"/>
            <a:ext cx="0" cy="2286000"/>
          </a:xfrm>
          <a:prstGeom prst="line">
            <a:avLst/>
          </a:prstGeom>
          <a:noFill/>
          <a:ln w="12700">
            <a:solidFill>
              <a:srgbClr val="EF4444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2561336" y="150876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depth=6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880360" y="1508760"/>
            <a:ext cx="256032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172968" y="148132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611880" y="1508760"/>
            <a:ext cx="256032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904488" y="14813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02920" y="386791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Depths &gt; 6 → overfitting zone: train accuracy keeps rising but test accuracy plateaus or drops.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663440" y="960120"/>
            <a:ext cx="40690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663440" y="960120"/>
            <a:ext cx="406908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0" y="987552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Complexity Pruning Results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4754880" y="141732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CCP trims branches that add complexity without meaningfully improving generalization. Think of it as pruning a decision tree the same way a gardener trims dead branches — keeping the healthy, load-bearing ones.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754880" y="23774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alpha values tested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754880" y="2788920"/>
            <a:ext cx="146304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74336" y="2743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CCP Alpha: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858000" y="27432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0.001944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754880" y="3118104"/>
            <a:ext cx="146304" cy="1645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74336" y="30723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Pruned Depth: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858000" y="30723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levels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754880" y="3447288"/>
            <a:ext cx="146304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74336" y="34015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Pruned Leaves: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858000" y="34015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(was 109)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754880" y="3776472"/>
            <a:ext cx="146304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974336" y="3730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Accuracy: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858000" y="37307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94.00%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754880" y="4105656"/>
            <a:ext cx="146304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974336" y="40599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ROC-AUC: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6858000" y="405993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92.56%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&amp; Final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228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234440"/>
            <a:ext cx="2743200" cy="402336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618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CART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636776"/>
            <a:ext cx="274320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373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89.33%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21284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44144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87.24%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68833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Depth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291693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16382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Nodes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339242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6576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settings, no constraints. Very deep — a classic overfitting case.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46120" y="1234440"/>
            <a:ext cx="2743200" cy="40233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12618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CART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46120" y="1636776"/>
            <a:ext cx="274320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17373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83280" y="19659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91.67%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83280" y="221284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83280" y="244144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91.16%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83280" y="268833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Depth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383280" y="291693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383280" y="316382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Nodes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383280" y="339242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83280" y="36576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found optimal hyperparameters across 90 combinations.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72200" y="9326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WINNER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72200" y="1234440"/>
            <a:ext cx="2743200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12618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Pruned CART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172200" y="1636776"/>
            <a:ext cx="274320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17373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309360" y="19659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94.00%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09360" y="221284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309360" y="244144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92.56%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309360" y="268833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Depth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309360" y="291693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309360" y="316382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Nodes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309360" y="339242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309360" y="36576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CCP removed low-value branches → simplest AND best-performing model.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20040" y="4407408"/>
            <a:ext cx="8503920" cy="4937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45312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Pruned CART achieves the highest accuracy (94%) and ROC-AUC (92.56%) with the simplest structure — fewer nodes means better generalization and HR-friendly explainability.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 &amp; Recommendations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832104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60120"/>
            <a:ext cx="41148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960120"/>
            <a:ext cx="4114800" cy="3657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8755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0352" y="1463040"/>
            <a:ext cx="274320" cy="2743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143560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predictors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170992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RecruitmentStrategy (37%), ExperienceYears (14%), SkillScore (13%), InterviewScore (13%) drive most predictions.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0352" y="2212848"/>
            <a:ext cx="274320" cy="2743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212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218541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2459736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69/31 split means accuracy alone is misleading. A naive 'always reject' baseline would already score 69%!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0352" y="2962656"/>
            <a:ext cx="274320" cy="2743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29626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4400" y="293522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trap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14400" y="3209544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Unconstrained trees grow 13+ levels deep. Pruning reduced leaves from 109 to 31 with better generalization.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30352" y="3712464"/>
            <a:ext cx="274320" cy="2743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712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4400" y="36850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= 0%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14400" y="395935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assigned zero importance to gender — which is both a fairness win and suggests it truly relies on performance signals.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960120"/>
            <a:ext cx="40690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100584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Recommendations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1399032"/>
            <a:ext cx="128016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56048" y="13716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interviews &amp; skill assessments — they are the #1 predictor.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1746504"/>
            <a:ext cx="128016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56048" y="17190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CART's tree diagram to explain decisions to non-technical managers.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54880" y="2093976"/>
            <a:ext cx="128016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56048" y="206654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over-indexing on experience — CART captures non-linear effects.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63440" y="2788920"/>
            <a:ext cx="40690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754880" y="283464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Next Steps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754880" y="321868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High Variance: 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754880" y="3419856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trees change drastically with data. → Try Random Forest or XGBoost.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54880" y="36210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Interactions: 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754880" y="3822192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can't capture complex cross-feature patterns → ensemble methods help.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54880" y="402336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Production: 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754880" y="4224528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deployment, add SHAP explanations + monitor for data drift.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6DA4FD-1D8E-023C-2D0D-4D136A7C3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3805310" cy="24477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39C3F5-A330-71E4-710A-445A2632C1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7846" y="1"/>
            <a:ext cx="3397350" cy="24477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7C76EE-A2F5-6384-AB57-F54627CCE7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140" y="2447779"/>
            <a:ext cx="7076049" cy="2580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632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1049</Words>
  <Application>Microsoft Office PowerPoint</Application>
  <PresentationFormat>On-screen Show (16:9)</PresentationFormat>
  <Paragraphs>224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CART ML Project — Hiring Decision Prediction</dc:title>
  <dc:subject>PptxGenJS Presentation</dc:subject>
  <dc:creator>PptxGenJS</dc:creator>
  <cp:lastModifiedBy>Amandeep Kumar</cp:lastModifiedBy>
  <cp:revision>2</cp:revision>
  <dcterms:created xsi:type="dcterms:W3CDTF">2026-03-31T05:46:58Z</dcterms:created>
  <dcterms:modified xsi:type="dcterms:W3CDTF">2026-03-31T11:53:36Z</dcterms:modified>
</cp:coreProperties>
</file>